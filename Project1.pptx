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agmatica" charset="1" panose="020B0503040502020204"/>
      <p:regular r:id="rId16"/>
    </p:embeddedFont>
    <p:embeddedFont>
      <p:font typeface="Open Sauce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Pragmatica Bold" charset="1" panose="020B07030405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02148" y="5371640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516160" y="-3959080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9650" y="3337094"/>
            <a:ext cx="13108269" cy="121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9953">
                <a:solidFill>
                  <a:srgbClr val="0B0027"/>
                </a:solidFill>
                <a:latin typeface="Pragmatica"/>
                <a:ea typeface="Pragmatica"/>
                <a:cs typeface="Pragmatica"/>
                <a:sym typeface="Pragmatica"/>
              </a:rPr>
              <a:t>DIGITAL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25083" y="8852480"/>
            <a:ext cx="2934217" cy="40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399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9302" y="6778631"/>
            <a:ext cx="11021462" cy="40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2" spc="73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Measuring temperature using TMP36 and displaying it on a 16×2 LCD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00415" y="9220200"/>
            <a:ext cx="24591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Kancharla Shaarvaani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53884" y="981075"/>
            <a:ext cx="25054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Embedded Systems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650" y="4638239"/>
            <a:ext cx="13108269" cy="121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9953">
                <a:solidFill>
                  <a:srgbClr val="0B0027"/>
                </a:solidFill>
                <a:latin typeface="Pragmatica"/>
                <a:ea typeface="Pragmatica"/>
                <a:cs typeface="Pragmatica"/>
                <a:sym typeface="Pragmatica"/>
              </a:rPr>
              <a:t>THERMOMETER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650" y="5834219"/>
            <a:ext cx="13108269" cy="121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8"/>
              </a:lnSpc>
            </a:pPr>
            <a:r>
              <a:rPr lang="en-US" sz="9953">
                <a:solidFill>
                  <a:srgbClr val="0B0027"/>
                </a:solidFill>
                <a:latin typeface="Pragmatica"/>
                <a:ea typeface="Pragmatica"/>
                <a:cs typeface="Pragmatica"/>
                <a:sym typeface="Pragmatica"/>
              </a:rPr>
              <a:t>WITH LCD DISPLAY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18341"/>
            <a:ext cx="8485449" cy="74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5871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6865" y="2283488"/>
            <a:ext cx="15254271" cy="61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Temperature Sensing is an important function in embedded systems, where a physical temperature is converted into an electrical signal that can be processed by a microcontroller.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In this project, a TMP36 temperature sensor is interfaced with an Arduino UNO to measure the surrounding temperature.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Arduino reads the sensor output, processes the temperature value, and sends the result to a 16×2 LCD for user-readable display.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This project demonstrates the fundamental concept of sensor interfacing and data visualization in embedded systems.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implementation is carried out using Tinkercad simulation, providing a virtual environment for circuit design, Arduino programming, and functional testing.</a:t>
            </a:r>
          </a:p>
          <a:p>
            <a:pPr algn="just">
              <a:lnSpc>
                <a:spcPts val="44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80157" y="4268815"/>
            <a:ext cx="1224070" cy="2142122"/>
          </a:xfrm>
          <a:custGeom>
            <a:avLst/>
            <a:gdLst/>
            <a:ahLst/>
            <a:cxnLst/>
            <a:rect r="r" b="b" t="t" l="l"/>
            <a:pathLst>
              <a:path h="2142122" w="1224070">
                <a:moveTo>
                  <a:pt x="0" y="0"/>
                </a:moveTo>
                <a:lnTo>
                  <a:pt x="1224070" y="0"/>
                </a:lnTo>
                <a:lnTo>
                  <a:pt x="1224070" y="2142122"/>
                </a:lnTo>
                <a:lnTo>
                  <a:pt x="0" y="2142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64351" y="846348"/>
            <a:ext cx="3831203" cy="2481536"/>
          </a:xfrm>
          <a:custGeom>
            <a:avLst/>
            <a:gdLst/>
            <a:ahLst/>
            <a:cxnLst/>
            <a:rect r="r" b="b" t="t" l="l"/>
            <a:pathLst>
              <a:path h="2481536" w="3831203">
                <a:moveTo>
                  <a:pt x="0" y="0"/>
                </a:moveTo>
                <a:lnTo>
                  <a:pt x="3831204" y="0"/>
                </a:lnTo>
                <a:lnTo>
                  <a:pt x="3831204" y="2481536"/>
                </a:lnTo>
                <a:lnTo>
                  <a:pt x="0" y="2481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53" t="-5427" r="-3460" b="-610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0098" y="3699359"/>
            <a:ext cx="3422808" cy="1640517"/>
          </a:xfrm>
          <a:custGeom>
            <a:avLst/>
            <a:gdLst/>
            <a:ahLst/>
            <a:cxnLst/>
            <a:rect r="r" b="b" t="t" l="l"/>
            <a:pathLst>
              <a:path h="1640517" w="3422808">
                <a:moveTo>
                  <a:pt x="0" y="0"/>
                </a:moveTo>
                <a:lnTo>
                  <a:pt x="3422807" y="0"/>
                </a:lnTo>
                <a:lnTo>
                  <a:pt x="3422807" y="1640517"/>
                </a:lnTo>
                <a:lnTo>
                  <a:pt x="0" y="16405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94165" y="5813126"/>
            <a:ext cx="3278741" cy="1857563"/>
          </a:xfrm>
          <a:custGeom>
            <a:avLst/>
            <a:gdLst/>
            <a:ahLst/>
            <a:cxnLst/>
            <a:rect r="r" b="b" t="t" l="l"/>
            <a:pathLst>
              <a:path h="1857563" w="3278741">
                <a:moveTo>
                  <a:pt x="0" y="0"/>
                </a:moveTo>
                <a:lnTo>
                  <a:pt x="3278740" y="0"/>
                </a:lnTo>
                <a:lnTo>
                  <a:pt x="3278740" y="1857563"/>
                </a:lnTo>
                <a:lnTo>
                  <a:pt x="0" y="185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981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94662" y="7960420"/>
            <a:ext cx="1743861" cy="1311386"/>
          </a:xfrm>
          <a:custGeom>
            <a:avLst/>
            <a:gdLst/>
            <a:ahLst/>
            <a:cxnLst/>
            <a:rect r="r" b="b" t="t" l="l"/>
            <a:pathLst>
              <a:path h="1311386" w="1743861">
                <a:moveTo>
                  <a:pt x="0" y="0"/>
                </a:moveTo>
                <a:lnTo>
                  <a:pt x="1743861" y="0"/>
                </a:lnTo>
                <a:lnTo>
                  <a:pt x="1743861" y="1311386"/>
                </a:lnTo>
                <a:lnTo>
                  <a:pt x="0" y="13113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143" t="0" r="-707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38057" y="8046145"/>
            <a:ext cx="1258732" cy="1259060"/>
          </a:xfrm>
          <a:custGeom>
            <a:avLst/>
            <a:gdLst/>
            <a:ahLst/>
            <a:cxnLst/>
            <a:rect r="r" b="b" t="t" l="l"/>
            <a:pathLst>
              <a:path h="1259060" w="1258732">
                <a:moveTo>
                  <a:pt x="0" y="0"/>
                </a:moveTo>
                <a:lnTo>
                  <a:pt x="1258732" y="0"/>
                </a:lnTo>
                <a:lnTo>
                  <a:pt x="1258732" y="1259060"/>
                </a:lnTo>
                <a:lnTo>
                  <a:pt x="0" y="12590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85" t="-3281" r="-198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015886" y="7447708"/>
            <a:ext cx="1552611" cy="445963"/>
          </a:xfrm>
          <a:custGeom>
            <a:avLst/>
            <a:gdLst/>
            <a:ahLst/>
            <a:cxnLst/>
            <a:rect r="r" b="b" t="t" l="l"/>
            <a:pathLst>
              <a:path h="445963" w="1552611">
                <a:moveTo>
                  <a:pt x="0" y="0"/>
                </a:moveTo>
                <a:lnTo>
                  <a:pt x="1552611" y="0"/>
                </a:lnTo>
                <a:lnTo>
                  <a:pt x="1552611" y="445963"/>
                </a:lnTo>
                <a:lnTo>
                  <a:pt x="0" y="445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62050"/>
            <a:ext cx="4501975" cy="69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9"/>
              </a:lnSpc>
            </a:pPr>
            <a:r>
              <a:rPr lang="en-US" sz="5420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5716" y="1753371"/>
            <a:ext cx="10174382" cy="297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To design a digital temperature measurement system using Arduino UNO.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To interface the TMP36 temperature sensor with the microcontroller.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To measure and process the temperature reading.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To display the measured temperature on a 16×2 LCD.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To verify the complete system through Tinkercad simulation.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75716" y="5568189"/>
            <a:ext cx="6704234" cy="449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Arduino UNO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TMP36 Temperature Sensor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16×2 LCD Display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10 kΩ Potentiometer 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Resistor 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Breadboard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Jumper Wires</a:t>
            </a:r>
          </a:p>
          <a:p>
            <a:pPr algn="just" marL="431799" indent="-215899" lvl="1">
              <a:lnSpc>
                <a:spcPts val="3999"/>
              </a:lnSpc>
              <a:buFont typeface="Arial"/>
              <a:buChar char="•"/>
            </a:pPr>
            <a:r>
              <a:rPr lang="en-US" sz="1999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Tinkercad (Software)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947427"/>
            <a:ext cx="7339784" cy="69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9"/>
              </a:lnSpc>
            </a:pPr>
            <a:r>
              <a:rPr lang="en-US" sz="5420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COMPONENTS USED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66474"/>
            <a:ext cx="18406176" cy="10353474"/>
          </a:xfrm>
          <a:custGeom>
            <a:avLst/>
            <a:gdLst/>
            <a:ahLst/>
            <a:cxnLst/>
            <a:rect r="r" b="b" t="t" l="l"/>
            <a:pathLst>
              <a:path h="10353474" w="18406176">
                <a:moveTo>
                  <a:pt x="0" y="0"/>
                </a:moveTo>
                <a:lnTo>
                  <a:pt x="18406176" y="0"/>
                </a:lnTo>
                <a:lnTo>
                  <a:pt x="18406176" y="10353474"/>
                </a:lnTo>
                <a:lnTo>
                  <a:pt x="0" y="10353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04361" y="2340269"/>
            <a:ext cx="11769825" cy="6918031"/>
          </a:xfrm>
          <a:custGeom>
            <a:avLst/>
            <a:gdLst/>
            <a:ahLst/>
            <a:cxnLst/>
            <a:rect r="r" b="b" t="t" l="l"/>
            <a:pathLst>
              <a:path h="6918031" w="11769825">
                <a:moveTo>
                  <a:pt x="0" y="0"/>
                </a:moveTo>
                <a:lnTo>
                  <a:pt x="11769825" y="0"/>
                </a:lnTo>
                <a:lnTo>
                  <a:pt x="11769825" y="6918031"/>
                </a:lnTo>
                <a:lnTo>
                  <a:pt x="0" y="6918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0" t="-8025" r="-6450" b="-1275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18341"/>
            <a:ext cx="8485449" cy="74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5871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CIRCUIT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18341"/>
            <a:ext cx="8485449" cy="74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5871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WORKING PRINCIPLE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6865" y="2219480"/>
            <a:ext cx="15254271" cy="780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40"/>
              </a:lnSpc>
            </a:pPr>
            <a:r>
              <a:rPr lang="en-US" sz="2220" b="true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Temperature Sensing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TMP36 senses the ambient temperature and produces a corresponding analog voltage.</a:t>
            </a:r>
          </a:p>
          <a:p>
            <a:pPr algn="just">
              <a:lnSpc>
                <a:spcPts val="4440"/>
              </a:lnSpc>
            </a:pPr>
            <a:r>
              <a:rPr lang="en-US" sz="2220" b="true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Signal Acquisition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analog output from the TMP36 is connected to an analog input of the Arduino UNO, which reads 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sensor voltage using its Analog-to-Digital Converter.</a:t>
            </a:r>
          </a:p>
          <a:p>
            <a:pPr algn="just">
              <a:lnSpc>
                <a:spcPts val="4440"/>
              </a:lnSpc>
            </a:pPr>
            <a:r>
              <a:rPr lang="en-US" sz="2220" b="true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Temperature Calculation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Arduino processes the Analog-to-Digital Converter reading and converts the sensor voltage into a 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temperature value.</a:t>
            </a:r>
          </a:p>
          <a:p>
            <a:pPr algn="just">
              <a:lnSpc>
                <a:spcPts val="4440"/>
              </a:lnSpc>
            </a:pPr>
            <a:r>
              <a:rPr lang="en-US" sz="2220" b="true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LCD Display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calculated temperature is sent to the 16×2 LCD, where it is displayed for the user.</a:t>
            </a:r>
          </a:p>
          <a:p>
            <a:pPr algn="just">
              <a:lnSpc>
                <a:spcPts val="4440"/>
              </a:lnSpc>
            </a:pPr>
            <a:r>
              <a:rPr lang="en-US" sz="2220" b="true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Continuous Monitoring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Arduino repeatedly reads the sensor and updates the LCD, allowing the temperature to be </a:t>
            </a:r>
          </a:p>
          <a:p>
            <a:pPr algn="just">
              <a:lnSpc>
                <a:spcPts val="4440"/>
              </a:lnSpc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monitored continuously.</a:t>
            </a:r>
          </a:p>
          <a:p>
            <a:pPr algn="just">
              <a:lnSpc>
                <a:spcPts val="44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18341"/>
            <a:ext cx="8485449" cy="74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5871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PROGRAM CODE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6262" y="2413876"/>
            <a:ext cx="5986943" cy="686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// include the library code: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#include &lt;LiquidCrystal.h&gt;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// initialize the library with the numbers of the interface pins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LiquidCrystal lcd(12, 11, 5, 4, 3, 2);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//declaring the variables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int degree;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double realDegree;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String lcdBuffer;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void setup() {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// setting up the LCD's number of columns and rows: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lcd.begin(16, 2);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degree = 0;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realDegree = 0;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lcd.print("Today's temp:");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// Print a message to the LCD.  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22109" y="2413876"/>
            <a:ext cx="5986943" cy="565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void loop()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{  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degree = analogRead(0);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realDegree = (double)degree/1024;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realDegree *= 5;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realDegree -= 0.5;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realDegree *= 100;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//farahnite's formula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realDegree = (9.0/5)*(realDegree) + 32;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lcd.setCursor(0,1);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// setting the cursor to column 0, line 1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String output = String(realDegree) + String((char)178) + "F";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 lcd.print(output);</a:t>
            </a:r>
          </a:p>
          <a:p>
            <a:pPr algn="just">
              <a:lnSpc>
                <a:spcPts val="3220"/>
              </a:lnSpc>
            </a:pPr>
            <a:r>
              <a:rPr lang="en-US" sz="161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55324" y="2676756"/>
            <a:ext cx="10498785" cy="6581544"/>
          </a:xfrm>
          <a:custGeom>
            <a:avLst/>
            <a:gdLst/>
            <a:ahLst/>
            <a:cxnLst/>
            <a:rect r="r" b="b" t="t" l="l"/>
            <a:pathLst>
              <a:path h="6581544" w="10498785">
                <a:moveTo>
                  <a:pt x="0" y="0"/>
                </a:moveTo>
                <a:lnTo>
                  <a:pt x="10498785" y="0"/>
                </a:lnTo>
                <a:lnTo>
                  <a:pt x="10498785" y="6581544"/>
                </a:lnTo>
                <a:lnTo>
                  <a:pt x="0" y="6581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8" t="-7003" r="-3035" b="-535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18341"/>
            <a:ext cx="8485449" cy="74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5871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SIMULATION 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464351" y="-1685644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612821" y="6234998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18341"/>
            <a:ext cx="8485449" cy="74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5871" b="true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6865" y="2283488"/>
            <a:ext cx="15254271" cy="724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Successfully designed and simulated a digital temperature monitoring system using Arduino UNO and TMP36.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TMP36 sensor provides the temperature input, which is processed by the Arduino.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measured temperature is successfully displayed on a 16×2 LCD.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project demonstrates practical implementation of sensor interfacing, analog-to-digital conversion, Arduino programming, and LCD interfacing.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complete system was verified through Tinkercad simulation.</a:t>
            </a:r>
          </a:p>
          <a:p>
            <a:pPr algn="just">
              <a:lnSpc>
                <a:spcPts val="4440"/>
              </a:lnSpc>
            </a:pPr>
            <a:r>
              <a:rPr lang="en-US" sz="2220" b="true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Scope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Temperature data logging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IoT-based remote monitoring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Mobile/cloud-based visualization</a:t>
            </a:r>
          </a:p>
          <a:p>
            <a:pPr algn="just" marL="479389" indent="-239694" lvl="1">
              <a:lnSpc>
                <a:spcPts val="4440"/>
              </a:lnSpc>
              <a:buFont typeface="Arial"/>
              <a:buChar char="•"/>
            </a:pPr>
            <a:r>
              <a:rPr lang="en-US" sz="222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Temperature threshold alerts</a:t>
            </a:r>
          </a:p>
          <a:p>
            <a:pPr algn="just">
              <a:lnSpc>
                <a:spcPts val="44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3588218" y="-2062187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0" y="0"/>
                </a:lnTo>
                <a:lnTo>
                  <a:pt x="6655680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331085" y="6836935"/>
            <a:ext cx="6655681" cy="6413656"/>
          </a:xfrm>
          <a:custGeom>
            <a:avLst/>
            <a:gdLst/>
            <a:ahLst/>
            <a:cxnLst/>
            <a:rect r="r" b="b" t="t" l="l"/>
            <a:pathLst>
              <a:path h="6413656" w="6655681">
                <a:moveTo>
                  <a:pt x="0" y="0"/>
                </a:moveTo>
                <a:lnTo>
                  <a:pt x="6655680" y="0"/>
                </a:lnTo>
                <a:lnTo>
                  <a:pt x="6655680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81776" y="4725379"/>
            <a:ext cx="9724448" cy="167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8"/>
              </a:lnSpc>
            </a:pPr>
            <a:r>
              <a:rPr lang="en-US" sz="13616">
                <a:solidFill>
                  <a:srgbClr val="0B0027"/>
                </a:solidFill>
                <a:latin typeface="Pragmatica"/>
                <a:ea typeface="Pragmatica"/>
                <a:cs typeface="Pragmatica"/>
                <a:sym typeface="Pragmatica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25083" y="8852480"/>
            <a:ext cx="2934217" cy="40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399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00415" y="9220200"/>
            <a:ext cx="24591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Kancharla Shaarvaani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DAHSKhqs2dU</dc:identifier>
  <dcterms:modified xsi:type="dcterms:W3CDTF">2011-08-01T06:04:30Z</dcterms:modified>
  <cp:revision>1</cp:revision>
  <dc:title>Project1</dc:title>
</cp:coreProperties>
</file>